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ynapuff" charset="1" panose="00000000000000000000"/>
      <p:regular r:id="rId17"/>
    </p:embeddedFont>
    <p:embeddedFont>
      <p:font typeface="Inclusive Sans Bold Italics" charset="1" panose="00000000000000000000"/>
      <p:regular r:id="rId18"/>
    </p:embeddedFont>
    <p:embeddedFont>
      <p:font typeface="Inclusive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18" Target="../media/image21.png" Type="http://schemas.openxmlformats.org/officeDocument/2006/relationships/image"/><Relationship Id="rId19" Target="../media/image22.svg" Type="http://schemas.openxmlformats.org/officeDocument/2006/relationships/image"/><Relationship Id="rId2" Target="../media/image1.png" Type="http://schemas.openxmlformats.org/officeDocument/2006/relationships/image"/><Relationship Id="rId20" Target="../media/image42.png" Type="http://schemas.openxmlformats.org/officeDocument/2006/relationships/image"/><Relationship Id="rId21" Target="../media/image43.svg" Type="http://schemas.openxmlformats.org/officeDocument/2006/relationships/image"/><Relationship Id="rId22" Target="../media/image47.png" Type="http://schemas.openxmlformats.org/officeDocument/2006/relationships/image"/><Relationship Id="rId23" Target="../media/image4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360543" cy="3848249"/>
          </a:xfrm>
          <a:custGeom>
            <a:avLst/>
            <a:gdLst/>
            <a:ahLst/>
            <a:cxnLst/>
            <a:rect r="r" b="b" t="t" l="l"/>
            <a:pathLst>
              <a:path h="3848249" w="5360543">
                <a:moveTo>
                  <a:pt x="0" y="0"/>
                </a:moveTo>
                <a:lnTo>
                  <a:pt x="5360543" y="0"/>
                </a:lnTo>
                <a:lnTo>
                  <a:pt x="5360543" y="3848249"/>
                </a:lnTo>
                <a:lnTo>
                  <a:pt x="0" y="3848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54006">
            <a:off x="12136662" y="4965982"/>
            <a:ext cx="6458642" cy="6458642"/>
          </a:xfrm>
          <a:custGeom>
            <a:avLst/>
            <a:gdLst/>
            <a:ahLst/>
            <a:cxnLst/>
            <a:rect r="r" b="b" t="t" l="l"/>
            <a:pathLst>
              <a:path h="6458642" w="6458642">
                <a:moveTo>
                  <a:pt x="0" y="0"/>
                </a:moveTo>
                <a:lnTo>
                  <a:pt x="6458642" y="0"/>
                </a:lnTo>
                <a:lnTo>
                  <a:pt x="6458642" y="6458642"/>
                </a:lnTo>
                <a:lnTo>
                  <a:pt x="0" y="6458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150049">
            <a:off x="-1282645" y="5648322"/>
            <a:ext cx="6850668" cy="4571264"/>
          </a:xfrm>
          <a:custGeom>
            <a:avLst/>
            <a:gdLst/>
            <a:ahLst/>
            <a:cxnLst/>
            <a:rect r="r" b="b" t="t" l="l"/>
            <a:pathLst>
              <a:path h="4571264" w="6850668">
                <a:moveTo>
                  <a:pt x="0" y="4571264"/>
                </a:moveTo>
                <a:lnTo>
                  <a:pt x="6850668" y="4571264"/>
                </a:lnTo>
                <a:lnTo>
                  <a:pt x="6850668" y="0"/>
                </a:lnTo>
                <a:lnTo>
                  <a:pt x="0" y="0"/>
                </a:lnTo>
                <a:lnTo>
                  <a:pt x="0" y="457126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3243927" y="-442830"/>
            <a:ext cx="4601243" cy="5486903"/>
          </a:xfrm>
          <a:custGeom>
            <a:avLst/>
            <a:gdLst/>
            <a:ahLst/>
            <a:cxnLst/>
            <a:rect r="r" b="b" t="t" l="l"/>
            <a:pathLst>
              <a:path h="5486903" w="4601243">
                <a:moveTo>
                  <a:pt x="0" y="0"/>
                </a:moveTo>
                <a:lnTo>
                  <a:pt x="4601243" y="0"/>
                </a:lnTo>
                <a:lnTo>
                  <a:pt x="4601243" y="5486903"/>
                </a:lnTo>
                <a:lnTo>
                  <a:pt x="0" y="54869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05897" y="7083681"/>
            <a:ext cx="3594947" cy="3633681"/>
          </a:xfrm>
          <a:custGeom>
            <a:avLst/>
            <a:gdLst/>
            <a:ahLst/>
            <a:cxnLst/>
            <a:rect r="r" b="b" t="t" l="l"/>
            <a:pathLst>
              <a:path h="3633681" w="3594947">
                <a:moveTo>
                  <a:pt x="0" y="0"/>
                </a:moveTo>
                <a:lnTo>
                  <a:pt x="3594947" y="0"/>
                </a:lnTo>
                <a:lnTo>
                  <a:pt x="3594947" y="3633681"/>
                </a:lnTo>
                <a:lnTo>
                  <a:pt x="0" y="36336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466593">
            <a:off x="-108514" y="7029605"/>
            <a:ext cx="2274428" cy="2862552"/>
          </a:xfrm>
          <a:custGeom>
            <a:avLst/>
            <a:gdLst/>
            <a:ahLst/>
            <a:cxnLst/>
            <a:rect r="r" b="b" t="t" l="l"/>
            <a:pathLst>
              <a:path h="2862552" w="2274428">
                <a:moveTo>
                  <a:pt x="0" y="0"/>
                </a:moveTo>
                <a:lnTo>
                  <a:pt x="2274428" y="0"/>
                </a:lnTo>
                <a:lnTo>
                  <a:pt x="2274428" y="2862552"/>
                </a:lnTo>
                <a:lnTo>
                  <a:pt x="0" y="28625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026741">
            <a:off x="125335" y="-107121"/>
            <a:ext cx="2674181" cy="2924606"/>
          </a:xfrm>
          <a:custGeom>
            <a:avLst/>
            <a:gdLst/>
            <a:ahLst/>
            <a:cxnLst/>
            <a:rect r="r" b="b" t="t" l="l"/>
            <a:pathLst>
              <a:path h="2924606" w="2674181">
                <a:moveTo>
                  <a:pt x="0" y="0"/>
                </a:moveTo>
                <a:lnTo>
                  <a:pt x="2674181" y="0"/>
                </a:lnTo>
                <a:lnTo>
                  <a:pt x="2674181" y="2924606"/>
                </a:lnTo>
                <a:lnTo>
                  <a:pt x="0" y="2924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5841137" y="135760"/>
            <a:ext cx="2446863" cy="2583060"/>
          </a:xfrm>
          <a:custGeom>
            <a:avLst/>
            <a:gdLst/>
            <a:ahLst/>
            <a:cxnLst/>
            <a:rect r="r" b="b" t="t" l="l"/>
            <a:pathLst>
              <a:path h="2583060" w="2446863">
                <a:moveTo>
                  <a:pt x="2446863" y="0"/>
                </a:moveTo>
                <a:lnTo>
                  <a:pt x="0" y="0"/>
                </a:lnTo>
                <a:lnTo>
                  <a:pt x="0" y="2583061"/>
                </a:lnTo>
                <a:lnTo>
                  <a:pt x="2446863" y="2583061"/>
                </a:lnTo>
                <a:lnTo>
                  <a:pt x="2446863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89424" y="5563928"/>
            <a:ext cx="7905330" cy="646800"/>
          </a:xfrm>
          <a:custGeom>
            <a:avLst/>
            <a:gdLst/>
            <a:ahLst/>
            <a:cxnLst/>
            <a:rect r="r" b="b" t="t" l="l"/>
            <a:pathLst>
              <a:path h="646800" w="7905330">
                <a:moveTo>
                  <a:pt x="0" y="0"/>
                </a:moveTo>
                <a:lnTo>
                  <a:pt x="7905330" y="0"/>
                </a:lnTo>
                <a:lnTo>
                  <a:pt x="7905330" y="646799"/>
                </a:lnTo>
                <a:lnTo>
                  <a:pt x="0" y="64679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999782" y="9419867"/>
            <a:ext cx="5073653" cy="867133"/>
          </a:xfrm>
          <a:custGeom>
            <a:avLst/>
            <a:gdLst/>
            <a:ahLst/>
            <a:cxnLst/>
            <a:rect r="r" b="b" t="t" l="l"/>
            <a:pathLst>
              <a:path h="867133" w="5073653">
                <a:moveTo>
                  <a:pt x="0" y="0"/>
                </a:moveTo>
                <a:lnTo>
                  <a:pt x="5073653" y="0"/>
                </a:lnTo>
                <a:lnTo>
                  <a:pt x="5073653" y="867133"/>
                </a:lnTo>
                <a:lnTo>
                  <a:pt x="0" y="86713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316424">
            <a:off x="-1947504" y="2950825"/>
            <a:ext cx="3773033" cy="3300836"/>
          </a:xfrm>
          <a:custGeom>
            <a:avLst/>
            <a:gdLst/>
            <a:ahLst/>
            <a:cxnLst/>
            <a:rect r="r" b="b" t="t" l="l"/>
            <a:pathLst>
              <a:path h="3300836" w="3773033">
                <a:moveTo>
                  <a:pt x="0" y="0"/>
                </a:moveTo>
                <a:lnTo>
                  <a:pt x="3773033" y="0"/>
                </a:lnTo>
                <a:lnTo>
                  <a:pt x="3773033" y="3300836"/>
                </a:lnTo>
                <a:lnTo>
                  <a:pt x="0" y="330083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2844" y="764090"/>
            <a:ext cx="18288000" cy="467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86"/>
              </a:lnSpc>
              <a:spcBef>
                <a:spcPct val="0"/>
              </a:spcBef>
            </a:pPr>
            <a:r>
              <a:rPr lang="en-US" sz="13418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Task 2 : Data preprocessing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3556043">
            <a:off x="16337327" y="3533396"/>
            <a:ext cx="3773033" cy="3300836"/>
          </a:xfrm>
          <a:custGeom>
            <a:avLst/>
            <a:gdLst/>
            <a:ahLst/>
            <a:cxnLst/>
            <a:rect r="r" b="b" t="t" l="l"/>
            <a:pathLst>
              <a:path h="3300836" w="3773033">
                <a:moveTo>
                  <a:pt x="3773033" y="0"/>
                </a:moveTo>
                <a:lnTo>
                  <a:pt x="0" y="0"/>
                </a:lnTo>
                <a:lnTo>
                  <a:pt x="0" y="3300837"/>
                </a:lnTo>
                <a:lnTo>
                  <a:pt x="3773033" y="3300837"/>
                </a:lnTo>
                <a:lnTo>
                  <a:pt x="3773033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535025" y="6241124"/>
            <a:ext cx="11217950" cy="83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8"/>
              </a:lnSpc>
              <a:spcBef>
                <a:spcPct val="0"/>
              </a:spcBef>
            </a:pPr>
            <a:r>
              <a:rPr lang="en-US" b="true" sz="4920" i="true">
                <a:solidFill>
                  <a:srgbClr val="415472"/>
                </a:solidFill>
                <a:latin typeface="Inclusive Sans Bold Italics"/>
                <a:ea typeface="Inclusive Sans Bold Italics"/>
                <a:cs typeface="Inclusive Sans Bold Italics"/>
                <a:sym typeface="Inclusive Sans Bold Italics"/>
              </a:rPr>
              <a:t>Presented By Sama Alaa Abdelgwad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778590" cy="2712590"/>
          </a:xfrm>
          <a:custGeom>
            <a:avLst/>
            <a:gdLst/>
            <a:ahLst/>
            <a:cxnLst/>
            <a:rect r="r" b="b" t="t" l="l"/>
            <a:pathLst>
              <a:path h="2712590" w="3778590">
                <a:moveTo>
                  <a:pt x="0" y="0"/>
                </a:moveTo>
                <a:lnTo>
                  <a:pt x="3778590" y="0"/>
                </a:lnTo>
                <a:lnTo>
                  <a:pt x="3778590" y="2712590"/>
                </a:lnTo>
                <a:lnTo>
                  <a:pt x="0" y="2712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192003" y="-271804"/>
            <a:ext cx="2824193" cy="3367802"/>
          </a:xfrm>
          <a:custGeom>
            <a:avLst/>
            <a:gdLst/>
            <a:ahLst/>
            <a:cxnLst/>
            <a:rect r="r" b="b" t="t" l="l"/>
            <a:pathLst>
              <a:path h="3367802" w="2824193">
                <a:moveTo>
                  <a:pt x="0" y="0"/>
                </a:moveTo>
                <a:lnTo>
                  <a:pt x="2824193" y="0"/>
                </a:lnTo>
                <a:lnTo>
                  <a:pt x="2824193" y="3367801"/>
                </a:lnTo>
                <a:lnTo>
                  <a:pt x="0" y="3367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4006">
            <a:off x="13774215" y="6678589"/>
            <a:ext cx="4782721" cy="4782721"/>
          </a:xfrm>
          <a:custGeom>
            <a:avLst/>
            <a:gdLst/>
            <a:ahLst/>
            <a:cxnLst/>
            <a:rect r="r" b="b" t="t" l="l"/>
            <a:pathLst>
              <a:path h="4782721" w="4782721">
                <a:moveTo>
                  <a:pt x="0" y="0"/>
                </a:moveTo>
                <a:lnTo>
                  <a:pt x="4782721" y="0"/>
                </a:lnTo>
                <a:lnTo>
                  <a:pt x="4782721" y="4782721"/>
                </a:lnTo>
                <a:lnTo>
                  <a:pt x="0" y="4782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742234">
            <a:off x="-1017049" y="7303395"/>
            <a:ext cx="4508593" cy="3008461"/>
          </a:xfrm>
          <a:custGeom>
            <a:avLst/>
            <a:gdLst/>
            <a:ahLst/>
            <a:cxnLst/>
            <a:rect r="r" b="b" t="t" l="l"/>
            <a:pathLst>
              <a:path h="3008461" w="4508593">
                <a:moveTo>
                  <a:pt x="0" y="3008461"/>
                </a:moveTo>
                <a:lnTo>
                  <a:pt x="4508593" y="3008461"/>
                </a:lnTo>
                <a:lnTo>
                  <a:pt x="4508593" y="0"/>
                </a:lnTo>
                <a:lnTo>
                  <a:pt x="0" y="0"/>
                </a:lnTo>
                <a:lnTo>
                  <a:pt x="0" y="300846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120950" y="354600"/>
            <a:ext cx="1768345" cy="1933943"/>
          </a:xfrm>
          <a:custGeom>
            <a:avLst/>
            <a:gdLst/>
            <a:ahLst/>
            <a:cxnLst/>
            <a:rect r="r" b="b" t="t" l="l"/>
            <a:pathLst>
              <a:path h="1933943" w="1768345">
                <a:moveTo>
                  <a:pt x="0" y="0"/>
                </a:moveTo>
                <a:lnTo>
                  <a:pt x="1768345" y="0"/>
                </a:lnTo>
                <a:lnTo>
                  <a:pt x="1768345" y="1933943"/>
                </a:lnTo>
                <a:lnTo>
                  <a:pt x="0" y="19339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35013" y="8124499"/>
            <a:ext cx="2613054" cy="1890901"/>
          </a:xfrm>
          <a:custGeom>
            <a:avLst/>
            <a:gdLst/>
            <a:ahLst/>
            <a:cxnLst/>
            <a:rect r="r" b="b" t="t" l="l"/>
            <a:pathLst>
              <a:path h="1890901" w="2613054">
                <a:moveTo>
                  <a:pt x="0" y="0"/>
                </a:moveTo>
                <a:lnTo>
                  <a:pt x="2613054" y="0"/>
                </a:lnTo>
                <a:lnTo>
                  <a:pt x="2613054" y="1890901"/>
                </a:lnTo>
                <a:lnTo>
                  <a:pt x="0" y="1890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8955" y="4429832"/>
            <a:ext cx="8929397" cy="2378264"/>
          </a:xfrm>
          <a:custGeom>
            <a:avLst/>
            <a:gdLst/>
            <a:ahLst/>
            <a:cxnLst/>
            <a:rect r="r" b="b" t="t" l="l"/>
            <a:pathLst>
              <a:path h="2378264" w="8929397">
                <a:moveTo>
                  <a:pt x="0" y="0"/>
                </a:moveTo>
                <a:lnTo>
                  <a:pt x="8929397" y="0"/>
                </a:lnTo>
                <a:lnTo>
                  <a:pt x="8929397" y="2378264"/>
                </a:lnTo>
                <a:lnTo>
                  <a:pt x="0" y="237826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-1160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71045" y="1057469"/>
            <a:ext cx="11623001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HANDLING MISSING VALUES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43788" y="3275658"/>
            <a:ext cx="8600420" cy="5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Data</a:t>
            </a: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Quality Check – Missing Values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What we did: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Checked the number of missing values in each column.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Calculated the percentage of missing data.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Verified that the dataset contains no missing values.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Result: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All features had 0 missing values.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We delete them becuase there are few.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778590" cy="2712590"/>
          </a:xfrm>
          <a:custGeom>
            <a:avLst/>
            <a:gdLst/>
            <a:ahLst/>
            <a:cxnLst/>
            <a:rect r="r" b="b" t="t" l="l"/>
            <a:pathLst>
              <a:path h="2712590" w="3778590">
                <a:moveTo>
                  <a:pt x="0" y="0"/>
                </a:moveTo>
                <a:lnTo>
                  <a:pt x="3778590" y="0"/>
                </a:lnTo>
                <a:lnTo>
                  <a:pt x="3778590" y="2712590"/>
                </a:lnTo>
                <a:lnTo>
                  <a:pt x="0" y="2712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192003" y="-271804"/>
            <a:ext cx="2824193" cy="3367802"/>
          </a:xfrm>
          <a:custGeom>
            <a:avLst/>
            <a:gdLst/>
            <a:ahLst/>
            <a:cxnLst/>
            <a:rect r="r" b="b" t="t" l="l"/>
            <a:pathLst>
              <a:path h="3367802" w="2824193">
                <a:moveTo>
                  <a:pt x="0" y="0"/>
                </a:moveTo>
                <a:lnTo>
                  <a:pt x="2824193" y="0"/>
                </a:lnTo>
                <a:lnTo>
                  <a:pt x="2824193" y="3367801"/>
                </a:lnTo>
                <a:lnTo>
                  <a:pt x="0" y="3367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4006">
            <a:off x="13774215" y="6678589"/>
            <a:ext cx="4782721" cy="4782721"/>
          </a:xfrm>
          <a:custGeom>
            <a:avLst/>
            <a:gdLst/>
            <a:ahLst/>
            <a:cxnLst/>
            <a:rect r="r" b="b" t="t" l="l"/>
            <a:pathLst>
              <a:path h="4782721" w="4782721">
                <a:moveTo>
                  <a:pt x="0" y="0"/>
                </a:moveTo>
                <a:lnTo>
                  <a:pt x="4782721" y="0"/>
                </a:lnTo>
                <a:lnTo>
                  <a:pt x="4782721" y="4782721"/>
                </a:lnTo>
                <a:lnTo>
                  <a:pt x="0" y="4782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742234">
            <a:off x="-1017049" y="7303395"/>
            <a:ext cx="4508593" cy="3008461"/>
          </a:xfrm>
          <a:custGeom>
            <a:avLst/>
            <a:gdLst/>
            <a:ahLst/>
            <a:cxnLst/>
            <a:rect r="r" b="b" t="t" l="l"/>
            <a:pathLst>
              <a:path h="3008461" w="4508593">
                <a:moveTo>
                  <a:pt x="0" y="3008461"/>
                </a:moveTo>
                <a:lnTo>
                  <a:pt x="4508593" y="3008461"/>
                </a:lnTo>
                <a:lnTo>
                  <a:pt x="4508593" y="0"/>
                </a:lnTo>
                <a:lnTo>
                  <a:pt x="0" y="0"/>
                </a:lnTo>
                <a:lnTo>
                  <a:pt x="0" y="300846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2149" y="308756"/>
            <a:ext cx="15685651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ENC</a:t>
            </a: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ODING CATEGORICAL VARIABLES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20198" y="7899155"/>
            <a:ext cx="3302242" cy="2341589"/>
          </a:xfrm>
          <a:custGeom>
            <a:avLst/>
            <a:gdLst/>
            <a:ahLst/>
            <a:cxnLst/>
            <a:rect r="r" b="b" t="t" l="l"/>
            <a:pathLst>
              <a:path h="2341589" w="3302242">
                <a:moveTo>
                  <a:pt x="0" y="0"/>
                </a:moveTo>
                <a:lnTo>
                  <a:pt x="3302242" y="0"/>
                </a:lnTo>
                <a:lnTo>
                  <a:pt x="3302242" y="2341590"/>
                </a:lnTo>
                <a:lnTo>
                  <a:pt x="0" y="23415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3658" y="1424611"/>
            <a:ext cx="1634698" cy="2057400"/>
          </a:xfrm>
          <a:custGeom>
            <a:avLst/>
            <a:gdLst/>
            <a:ahLst/>
            <a:cxnLst/>
            <a:rect r="r" b="b" t="t" l="l"/>
            <a:pathLst>
              <a:path h="2057400" w="1634698">
                <a:moveTo>
                  <a:pt x="0" y="0"/>
                </a:moveTo>
                <a:lnTo>
                  <a:pt x="1634698" y="0"/>
                </a:lnTo>
                <a:lnTo>
                  <a:pt x="163469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51604" y="1376248"/>
            <a:ext cx="13220568" cy="837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</a:t>
            </a: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onverting Categorical Features into Numerical Format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What we did: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Removed unnecessary identifier columns:</a:t>
            </a:r>
          </a:p>
          <a:p>
            <a:pPr algn="just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User ID</a:t>
            </a:r>
          </a:p>
          <a:p>
            <a:pPr algn="just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User Name</a:t>
            </a:r>
          </a:p>
          <a:p>
            <a:pPr algn="just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Driver Name</a:t>
            </a:r>
          </a:p>
          <a:p>
            <a:pPr algn="just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Key</a:t>
            </a:r>
          </a:p>
          <a:p>
            <a:pPr algn="just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Pickup datetime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Applied different encoding techniques:</a:t>
            </a:r>
          </a:p>
          <a:p>
            <a:pPr algn="just" marL="1554480" indent="-388620" lvl="3">
              <a:lnSpc>
                <a:spcPts val="3359"/>
              </a:lnSpc>
              <a:spcBef>
                <a:spcPct val="0"/>
              </a:spcBef>
              <a:buFont typeface="Arial"/>
              <a:buChar char="￭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One-Hot Encoding for WeatherBecause weather categories have no natural order.</a:t>
            </a:r>
          </a:p>
          <a:p>
            <a:pPr algn="just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Ordinal Encoding for:</a:t>
            </a:r>
          </a:p>
          <a:p>
            <a:pPr algn="just" marL="1554480" indent="-388620" lvl="3">
              <a:lnSpc>
                <a:spcPts val="3359"/>
              </a:lnSpc>
              <a:spcBef>
                <a:spcPct val="0"/>
              </a:spcBef>
              <a:buFont typeface="Arial"/>
              <a:buChar char="￭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Traffic Condition</a:t>
            </a:r>
          </a:p>
          <a:p>
            <a:pPr algn="just" marL="1554480" indent="-388620" lvl="3">
              <a:lnSpc>
                <a:spcPts val="3359"/>
              </a:lnSpc>
              <a:spcBef>
                <a:spcPct val="0"/>
              </a:spcBef>
              <a:buFont typeface="Arial"/>
              <a:buChar char="￭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Car Condition</a:t>
            </a:r>
          </a:p>
          <a:p>
            <a:pPr algn="just" marL="1554480" indent="-388620" lvl="3">
              <a:lnSpc>
                <a:spcPts val="3359"/>
              </a:lnSpc>
              <a:spcBef>
                <a:spcPct val="0"/>
              </a:spcBef>
              <a:buFont typeface="Arial"/>
              <a:buChar char="￭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Because their categories have an order/ranking.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Result: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All categorical variables were converted into numerical values.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Dataset became ready for machine learning models.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778590" cy="2712590"/>
          </a:xfrm>
          <a:custGeom>
            <a:avLst/>
            <a:gdLst/>
            <a:ahLst/>
            <a:cxnLst/>
            <a:rect r="r" b="b" t="t" l="l"/>
            <a:pathLst>
              <a:path h="2712590" w="3778590">
                <a:moveTo>
                  <a:pt x="0" y="0"/>
                </a:moveTo>
                <a:lnTo>
                  <a:pt x="3778590" y="0"/>
                </a:lnTo>
                <a:lnTo>
                  <a:pt x="3778590" y="2712590"/>
                </a:lnTo>
                <a:lnTo>
                  <a:pt x="0" y="2712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192003" y="-271804"/>
            <a:ext cx="2824193" cy="3367802"/>
          </a:xfrm>
          <a:custGeom>
            <a:avLst/>
            <a:gdLst/>
            <a:ahLst/>
            <a:cxnLst/>
            <a:rect r="r" b="b" t="t" l="l"/>
            <a:pathLst>
              <a:path h="3367802" w="2824193">
                <a:moveTo>
                  <a:pt x="0" y="0"/>
                </a:moveTo>
                <a:lnTo>
                  <a:pt x="2824193" y="0"/>
                </a:lnTo>
                <a:lnTo>
                  <a:pt x="2824193" y="3367801"/>
                </a:lnTo>
                <a:lnTo>
                  <a:pt x="0" y="3367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4006">
            <a:off x="13774215" y="6678589"/>
            <a:ext cx="4782721" cy="4782721"/>
          </a:xfrm>
          <a:custGeom>
            <a:avLst/>
            <a:gdLst/>
            <a:ahLst/>
            <a:cxnLst/>
            <a:rect r="r" b="b" t="t" l="l"/>
            <a:pathLst>
              <a:path h="4782721" w="4782721">
                <a:moveTo>
                  <a:pt x="0" y="0"/>
                </a:moveTo>
                <a:lnTo>
                  <a:pt x="4782721" y="0"/>
                </a:lnTo>
                <a:lnTo>
                  <a:pt x="4782721" y="4782721"/>
                </a:lnTo>
                <a:lnTo>
                  <a:pt x="0" y="4782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742234">
            <a:off x="-1017049" y="7303395"/>
            <a:ext cx="4508593" cy="3008461"/>
          </a:xfrm>
          <a:custGeom>
            <a:avLst/>
            <a:gdLst/>
            <a:ahLst/>
            <a:cxnLst/>
            <a:rect r="r" b="b" t="t" l="l"/>
            <a:pathLst>
              <a:path h="3008461" w="4508593">
                <a:moveTo>
                  <a:pt x="0" y="3008461"/>
                </a:moveTo>
                <a:lnTo>
                  <a:pt x="4508593" y="3008461"/>
                </a:lnTo>
                <a:lnTo>
                  <a:pt x="4508593" y="0"/>
                </a:lnTo>
                <a:lnTo>
                  <a:pt x="0" y="0"/>
                </a:lnTo>
                <a:lnTo>
                  <a:pt x="0" y="300846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120950" y="354600"/>
            <a:ext cx="1768345" cy="1933943"/>
          </a:xfrm>
          <a:custGeom>
            <a:avLst/>
            <a:gdLst/>
            <a:ahLst/>
            <a:cxnLst/>
            <a:rect r="r" b="b" t="t" l="l"/>
            <a:pathLst>
              <a:path h="1933943" w="1768345">
                <a:moveTo>
                  <a:pt x="0" y="0"/>
                </a:moveTo>
                <a:lnTo>
                  <a:pt x="1768345" y="0"/>
                </a:lnTo>
                <a:lnTo>
                  <a:pt x="1768345" y="1933943"/>
                </a:lnTo>
                <a:lnTo>
                  <a:pt x="0" y="19339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35013" y="8124499"/>
            <a:ext cx="2613054" cy="1890901"/>
          </a:xfrm>
          <a:custGeom>
            <a:avLst/>
            <a:gdLst/>
            <a:ahLst/>
            <a:cxnLst/>
            <a:rect r="r" b="b" t="t" l="l"/>
            <a:pathLst>
              <a:path h="1890901" w="2613054">
                <a:moveTo>
                  <a:pt x="0" y="0"/>
                </a:moveTo>
                <a:lnTo>
                  <a:pt x="2613054" y="0"/>
                </a:lnTo>
                <a:lnTo>
                  <a:pt x="2613054" y="1890901"/>
                </a:lnTo>
                <a:lnTo>
                  <a:pt x="0" y="1890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8789" y="3405186"/>
            <a:ext cx="8302268" cy="4311395"/>
          </a:xfrm>
          <a:custGeom>
            <a:avLst/>
            <a:gdLst/>
            <a:ahLst/>
            <a:cxnLst/>
            <a:rect r="r" b="b" t="t" l="l"/>
            <a:pathLst>
              <a:path h="4311395" w="8302268">
                <a:moveTo>
                  <a:pt x="0" y="0"/>
                </a:moveTo>
                <a:lnTo>
                  <a:pt x="8302268" y="0"/>
                </a:lnTo>
                <a:lnTo>
                  <a:pt x="8302268" y="4311396"/>
                </a:lnTo>
                <a:lnTo>
                  <a:pt x="0" y="431139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-1515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59416" y="1057469"/>
            <a:ext cx="1484626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OUTLIER DETECTION &amp; TREATMENT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43788" y="3275658"/>
            <a:ext cx="8600420" cy="692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</a:t>
            </a: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emoving Extreme Values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What we did: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Det</a:t>
            </a: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ected outliers using the IQR (Interquartile Range) method.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Applied outlier removal on</a:t>
            </a: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:</a:t>
            </a:r>
          </a:p>
          <a:p>
            <a:pPr algn="just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fare_amount</a:t>
            </a:r>
          </a:p>
          <a:p>
            <a:pPr algn="just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distance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Method: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Values outside:</a:t>
            </a:r>
          </a:p>
          <a:p>
            <a:pPr algn="just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Q1 − 1.5 × IQR</a:t>
            </a:r>
          </a:p>
          <a:p>
            <a:pPr algn="just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Q3 + 1.5 × IQR</a:t>
            </a:r>
          </a:p>
          <a:p>
            <a:pPr algn="just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were considered outliers and removed.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008113">
            <a:off x="7800348" y="8022631"/>
            <a:ext cx="4508593" cy="3008461"/>
          </a:xfrm>
          <a:custGeom>
            <a:avLst/>
            <a:gdLst/>
            <a:ahLst/>
            <a:cxnLst/>
            <a:rect r="r" b="b" t="t" l="l"/>
            <a:pathLst>
              <a:path h="3008461" w="4508593">
                <a:moveTo>
                  <a:pt x="0" y="3008461"/>
                </a:moveTo>
                <a:lnTo>
                  <a:pt x="4508593" y="3008461"/>
                </a:lnTo>
                <a:lnTo>
                  <a:pt x="4508593" y="0"/>
                </a:lnTo>
                <a:lnTo>
                  <a:pt x="0" y="0"/>
                </a:lnTo>
                <a:lnTo>
                  <a:pt x="0" y="300846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571412">
            <a:off x="12722523" y="5749056"/>
            <a:ext cx="6060756" cy="6060756"/>
          </a:xfrm>
          <a:custGeom>
            <a:avLst/>
            <a:gdLst/>
            <a:ahLst/>
            <a:cxnLst/>
            <a:rect r="r" b="b" t="t" l="l"/>
            <a:pathLst>
              <a:path h="6060756" w="6060756">
                <a:moveTo>
                  <a:pt x="0" y="0"/>
                </a:moveTo>
                <a:lnTo>
                  <a:pt x="6060756" y="0"/>
                </a:lnTo>
                <a:lnTo>
                  <a:pt x="6060756" y="6060757"/>
                </a:lnTo>
                <a:lnTo>
                  <a:pt x="0" y="6060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7491374"/>
            <a:ext cx="3894258" cy="2795626"/>
          </a:xfrm>
          <a:custGeom>
            <a:avLst/>
            <a:gdLst/>
            <a:ahLst/>
            <a:cxnLst/>
            <a:rect r="r" b="b" t="t" l="l"/>
            <a:pathLst>
              <a:path h="2795626" w="3894258">
                <a:moveTo>
                  <a:pt x="0" y="2795626"/>
                </a:moveTo>
                <a:lnTo>
                  <a:pt x="3894258" y="2795626"/>
                </a:lnTo>
                <a:lnTo>
                  <a:pt x="3894258" y="0"/>
                </a:lnTo>
                <a:lnTo>
                  <a:pt x="0" y="0"/>
                </a:lnTo>
                <a:lnTo>
                  <a:pt x="0" y="279562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16400">
            <a:off x="2778728" y="8532159"/>
            <a:ext cx="6587243" cy="6383637"/>
          </a:xfrm>
          <a:custGeom>
            <a:avLst/>
            <a:gdLst/>
            <a:ahLst/>
            <a:cxnLst/>
            <a:rect r="r" b="b" t="t" l="l"/>
            <a:pathLst>
              <a:path h="6383637" w="6587243">
                <a:moveTo>
                  <a:pt x="0" y="0"/>
                </a:moveTo>
                <a:lnTo>
                  <a:pt x="6587243" y="0"/>
                </a:lnTo>
                <a:lnTo>
                  <a:pt x="6587243" y="6383637"/>
                </a:lnTo>
                <a:lnTo>
                  <a:pt x="0" y="6383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17225" y="1294020"/>
            <a:ext cx="11253549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FEATU</a:t>
            </a: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RE SELECTION (RFE)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5271" y="3147784"/>
            <a:ext cx="4396421" cy="4651048"/>
            <a:chOff x="0" y="0"/>
            <a:chExt cx="1157905" cy="12249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7905" cy="1224967"/>
            </a:xfrm>
            <a:custGeom>
              <a:avLst/>
              <a:gdLst/>
              <a:ahLst/>
              <a:cxnLst/>
              <a:rect r="r" b="b" t="t" l="l"/>
              <a:pathLst>
                <a:path h="1224967" w="1157905">
                  <a:moveTo>
                    <a:pt x="59873" y="0"/>
                  </a:moveTo>
                  <a:lnTo>
                    <a:pt x="1098032" y="0"/>
                  </a:lnTo>
                  <a:cubicBezTo>
                    <a:pt x="1131099" y="0"/>
                    <a:pt x="1157905" y="26806"/>
                    <a:pt x="1157905" y="59873"/>
                  </a:cubicBezTo>
                  <a:lnTo>
                    <a:pt x="1157905" y="1165095"/>
                  </a:lnTo>
                  <a:cubicBezTo>
                    <a:pt x="1157905" y="1180974"/>
                    <a:pt x="1151597" y="1196203"/>
                    <a:pt x="1140369" y="1207431"/>
                  </a:cubicBezTo>
                  <a:cubicBezTo>
                    <a:pt x="1129141" y="1218660"/>
                    <a:pt x="1113912" y="1224967"/>
                    <a:pt x="1098032" y="1224967"/>
                  </a:cubicBezTo>
                  <a:lnTo>
                    <a:pt x="59873" y="1224967"/>
                  </a:lnTo>
                  <a:cubicBezTo>
                    <a:pt x="26806" y="1224967"/>
                    <a:pt x="0" y="1198162"/>
                    <a:pt x="0" y="1165095"/>
                  </a:cubicBezTo>
                  <a:lnTo>
                    <a:pt x="0" y="59873"/>
                  </a:lnTo>
                  <a:cubicBezTo>
                    <a:pt x="0" y="26806"/>
                    <a:pt x="26806" y="0"/>
                    <a:pt x="5987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41547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57905" cy="1263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45789" y="3147784"/>
            <a:ext cx="4396421" cy="4651048"/>
            <a:chOff x="0" y="0"/>
            <a:chExt cx="1157905" cy="12249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7905" cy="1224967"/>
            </a:xfrm>
            <a:custGeom>
              <a:avLst/>
              <a:gdLst/>
              <a:ahLst/>
              <a:cxnLst/>
              <a:rect r="r" b="b" t="t" l="l"/>
              <a:pathLst>
                <a:path h="1224967" w="1157905">
                  <a:moveTo>
                    <a:pt x="59873" y="0"/>
                  </a:moveTo>
                  <a:lnTo>
                    <a:pt x="1098032" y="0"/>
                  </a:lnTo>
                  <a:cubicBezTo>
                    <a:pt x="1131099" y="0"/>
                    <a:pt x="1157905" y="26806"/>
                    <a:pt x="1157905" y="59873"/>
                  </a:cubicBezTo>
                  <a:lnTo>
                    <a:pt x="1157905" y="1165095"/>
                  </a:lnTo>
                  <a:cubicBezTo>
                    <a:pt x="1157905" y="1180974"/>
                    <a:pt x="1151597" y="1196203"/>
                    <a:pt x="1140369" y="1207431"/>
                  </a:cubicBezTo>
                  <a:cubicBezTo>
                    <a:pt x="1129141" y="1218660"/>
                    <a:pt x="1113912" y="1224967"/>
                    <a:pt x="1098032" y="1224967"/>
                  </a:cubicBezTo>
                  <a:lnTo>
                    <a:pt x="59873" y="1224967"/>
                  </a:lnTo>
                  <a:cubicBezTo>
                    <a:pt x="26806" y="1224967"/>
                    <a:pt x="0" y="1198162"/>
                    <a:pt x="0" y="1165095"/>
                  </a:cubicBezTo>
                  <a:lnTo>
                    <a:pt x="0" y="59873"/>
                  </a:lnTo>
                  <a:cubicBezTo>
                    <a:pt x="0" y="26806"/>
                    <a:pt x="26806" y="0"/>
                    <a:pt x="5987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415472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57905" cy="1263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380991" y="7491374"/>
            <a:ext cx="2907009" cy="2938330"/>
          </a:xfrm>
          <a:custGeom>
            <a:avLst/>
            <a:gdLst/>
            <a:ahLst/>
            <a:cxnLst/>
            <a:rect r="r" b="b" t="t" l="l"/>
            <a:pathLst>
              <a:path h="2938330" w="2907009">
                <a:moveTo>
                  <a:pt x="0" y="0"/>
                </a:moveTo>
                <a:lnTo>
                  <a:pt x="2907009" y="0"/>
                </a:lnTo>
                <a:lnTo>
                  <a:pt x="2907009" y="2938330"/>
                </a:lnTo>
                <a:lnTo>
                  <a:pt x="0" y="29383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416308" y="3147784"/>
            <a:ext cx="4396421" cy="4651048"/>
            <a:chOff x="0" y="0"/>
            <a:chExt cx="1157905" cy="12249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7905" cy="1224967"/>
            </a:xfrm>
            <a:custGeom>
              <a:avLst/>
              <a:gdLst/>
              <a:ahLst/>
              <a:cxnLst/>
              <a:rect r="r" b="b" t="t" l="l"/>
              <a:pathLst>
                <a:path h="1224967" w="1157905">
                  <a:moveTo>
                    <a:pt x="59873" y="0"/>
                  </a:moveTo>
                  <a:lnTo>
                    <a:pt x="1098032" y="0"/>
                  </a:lnTo>
                  <a:cubicBezTo>
                    <a:pt x="1131099" y="0"/>
                    <a:pt x="1157905" y="26806"/>
                    <a:pt x="1157905" y="59873"/>
                  </a:cubicBezTo>
                  <a:lnTo>
                    <a:pt x="1157905" y="1165095"/>
                  </a:lnTo>
                  <a:cubicBezTo>
                    <a:pt x="1157905" y="1180974"/>
                    <a:pt x="1151597" y="1196203"/>
                    <a:pt x="1140369" y="1207431"/>
                  </a:cubicBezTo>
                  <a:cubicBezTo>
                    <a:pt x="1129141" y="1218660"/>
                    <a:pt x="1113912" y="1224967"/>
                    <a:pt x="1098032" y="1224967"/>
                  </a:cubicBezTo>
                  <a:lnTo>
                    <a:pt x="59873" y="1224967"/>
                  </a:lnTo>
                  <a:cubicBezTo>
                    <a:pt x="26806" y="1224967"/>
                    <a:pt x="0" y="1198162"/>
                    <a:pt x="0" y="1165095"/>
                  </a:cubicBezTo>
                  <a:lnTo>
                    <a:pt x="0" y="59873"/>
                  </a:lnTo>
                  <a:cubicBezTo>
                    <a:pt x="0" y="26806"/>
                    <a:pt x="26806" y="0"/>
                    <a:pt x="5987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415472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57905" cy="1263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1644025">
            <a:off x="214589" y="303252"/>
            <a:ext cx="1464069" cy="1601173"/>
          </a:xfrm>
          <a:custGeom>
            <a:avLst/>
            <a:gdLst/>
            <a:ahLst/>
            <a:cxnLst/>
            <a:rect r="r" b="b" t="t" l="l"/>
            <a:pathLst>
              <a:path h="1601173" w="1464069">
                <a:moveTo>
                  <a:pt x="0" y="0"/>
                </a:moveTo>
                <a:lnTo>
                  <a:pt x="1464069" y="0"/>
                </a:lnTo>
                <a:lnTo>
                  <a:pt x="1464069" y="1601173"/>
                </a:lnTo>
                <a:lnTo>
                  <a:pt x="0" y="16011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01162" y="8081936"/>
            <a:ext cx="2280842" cy="1990553"/>
          </a:xfrm>
          <a:custGeom>
            <a:avLst/>
            <a:gdLst/>
            <a:ahLst/>
            <a:cxnLst/>
            <a:rect r="r" b="b" t="t" l="l"/>
            <a:pathLst>
              <a:path h="1990553" w="2280842">
                <a:moveTo>
                  <a:pt x="0" y="0"/>
                </a:moveTo>
                <a:lnTo>
                  <a:pt x="2280842" y="0"/>
                </a:lnTo>
                <a:lnTo>
                  <a:pt x="2280842" y="1990553"/>
                </a:lnTo>
                <a:lnTo>
                  <a:pt x="0" y="19905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94833" y="3259143"/>
            <a:ext cx="3983583" cy="442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</a:p>
          <a:p>
            <a:pPr algn="ctr">
              <a:lnSpc>
                <a:spcPts val="2928"/>
              </a:lnSpc>
              <a:spcBef>
                <a:spcPct val="0"/>
              </a:spcBef>
            </a:pPr>
            <a:r>
              <a:rPr lang="en-US" sz="2091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What w</a:t>
            </a:r>
            <a:r>
              <a:rPr lang="en-US" sz="2091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 did:</a:t>
            </a:r>
          </a:p>
          <a:p>
            <a:pPr algn="ctr" marL="451604" indent="-225802" lvl="1">
              <a:lnSpc>
                <a:spcPts val="2928"/>
              </a:lnSpc>
              <a:spcBef>
                <a:spcPct val="0"/>
              </a:spcBef>
              <a:buFont typeface="Arial"/>
              <a:buChar char="•"/>
            </a:pPr>
            <a:r>
              <a:rPr lang="en-US" sz="2091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Applied Recursive Feature Elimination (RFE) using Linear Regression.</a:t>
            </a:r>
          </a:p>
          <a:p>
            <a:pPr algn="ctr" marL="451604" indent="-225802" lvl="1">
              <a:lnSpc>
                <a:spcPts val="2928"/>
              </a:lnSpc>
              <a:spcBef>
                <a:spcPct val="0"/>
              </a:spcBef>
              <a:buFont typeface="Arial"/>
              <a:buChar char="•"/>
            </a:pPr>
            <a:r>
              <a:rPr lang="en-US" sz="2091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Started with all available features.</a:t>
            </a:r>
          </a:p>
          <a:p>
            <a:pPr algn="ctr" marL="451604" indent="-225802" lvl="1">
              <a:lnSpc>
                <a:spcPts val="2928"/>
              </a:lnSpc>
              <a:spcBef>
                <a:spcPct val="0"/>
              </a:spcBef>
              <a:buFont typeface="Arial"/>
              <a:buChar char="•"/>
            </a:pPr>
            <a:r>
              <a:rPr lang="en-US" sz="2091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The algorithm recursively removed less important features until selecting the top 10 features.</a:t>
            </a:r>
          </a:p>
          <a:p>
            <a:pPr algn="ctr">
              <a:lnSpc>
                <a:spcPts val="1808"/>
              </a:lnSpc>
              <a:spcBef>
                <a:spcPct val="0"/>
              </a:spcBef>
            </a:pPr>
          </a:p>
          <a:p>
            <a:pPr algn="ctr">
              <a:lnSpc>
                <a:spcPts val="1808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6883907" y="3370188"/>
            <a:ext cx="3800054" cy="461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  <a:spcBef>
                <a:spcPct val="0"/>
              </a:spcBef>
            </a:pPr>
            <a:r>
              <a:rPr lang="en-US" sz="203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</a:t>
            </a:r>
            <a:r>
              <a:rPr lang="en-US" sz="203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elected Features:</a:t>
            </a:r>
          </a:p>
          <a:p>
            <a:pPr algn="ctr" marL="439924" indent="-219962" lvl="1">
              <a:lnSpc>
                <a:spcPts val="2852"/>
              </a:lnSpc>
              <a:spcBef>
                <a:spcPct val="0"/>
              </a:spcBef>
              <a:buFont typeface="Arial"/>
              <a:buChar char="•"/>
            </a:pPr>
            <a:r>
              <a:rPr lang="en-US" sz="203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Distance</a:t>
            </a:r>
          </a:p>
          <a:p>
            <a:pPr algn="ctr" marL="439924" indent="-219962" lvl="1">
              <a:lnSpc>
                <a:spcPts val="2852"/>
              </a:lnSpc>
              <a:spcBef>
                <a:spcPct val="0"/>
              </a:spcBef>
              <a:buFont typeface="Arial"/>
              <a:buChar char="•"/>
            </a:pPr>
            <a:r>
              <a:rPr lang="en-US" sz="203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Pickup &amp; Dropoff coordinates</a:t>
            </a:r>
          </a:p>
          <a:p>
            <a:pPr algn="ctr" marL="439924" indent="-219962" lvl="1">
              <a:lnSpc>
                <a:spcPts val="2852"/>
              </a:lnSpc>
              <a:spcBef>
                <a:spcPct val="0"/>
              </a:spcBef>
              <a:buFont typeface="Arial"/>
              <a:buChar char="•"/>
            </a:pPr>
            <a:r>
              <a:rPr lang="en-US" sz="203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Time features:</a:t>
            </a:r>
          </a:p>
          <a:p>
            <a:pPr algn="ctr" marL="879847" indent="-293282" lvl="2">
              <a:lnSpc>
                <a:spcPts val="2852"/>
              </a:lnSpc>
              <a:spcBef>
                <a:spcPct val="0"/>
              </a:spcBef>
              <a:buFont typeface="Arial"/>
              <a:buChar char="⚬"/>
            </a:pPr>
            <a:r>
              <a:rPr lang="en-US" sz="203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Month</a:t>
            </a:r>
          </a:p>
          <a:p>
            <a:pPr algn="ctr" marL="879847" indent="-293282" lvl="2">
              <a:lnSpc>
                <a:spcPts val="2852"/>
              </a:lnSpc>
              <a:spcBef>
                <a:spcPct val="0"/>
              </a:spcBef>
              <a:buFont typeface="Arial"/>
              <a:buChar char="⚬"/>
            </a:pPr>
            <a:r>
              <a:rPr lang="en-US" sz="203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Weekday</a:t>
            </a:r>
          </a:p>
          <a:p>
            <a:pPr algn="ctr" marL="879847" indent="-293282" lvl="2">
              <a:lnSpc>
                <a:spcPts val="2852"/>
              </a:lnSpc>
              <a:spcBef>
                <a:spcPct val="0"/>
              </a:spcBef>
              <a:buFont typeface="Arial"/>
              <a:buChar char="⚬"/>
            </a:pPr>
            <a:r>
              <a:rPr lang="en-US" sz="203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Year</a:t>
            </a:r>
          </a:p>
          <a:p>
            <a:pPr algn="ctr" marL="439924" indent="-219962" lvl="1">
              <a:lnSpc>
                <a:spcPts val="2852"/>
              </a:lnSpc>
              <a:spcBef>
                <a:spcPct val="0"/>
              </a:spcBef>
              <a:buFont typeface="Arial"/>
              <a:buChar char="•"/>
            </a:pPr>
            <a:r>
              <a:rPr lang="en-US" sz="203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Location-related features:</a:t>
            </a:r>
          </a:p>
          <a:p>
            <a:pPr algn="ctr" marL="879847" indent="-293282" lvl="2">
              <a:lnSpc>
                <a:spcPts val="2852"/>
              </a:lnSpc>
              <a:spcBef>
                <a:spcPct val="0"/>
              </a:spcBef>
              <a:buFont typeface="Arial"/>
              <a:buChar char="⚬"/>
            </a:pPr>
            <a:r>
              <a:rPr lang="en-US" sz="203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LGA distance</a:t>
            </a:r>
          </a:p>
          <a:p>
            <a:pPr algn="ctr" marL="879847" indent="-293282" lvl="2">
              <a:lnSpc>
                <a:spcPts val="2852"/>
              </a:lnSpc>
              <a:spcBef>
                <a:spcPct val="0"/>
              </a:spcBef>
              <a:buFont typeface="Arial"/>
              <a:buChar char="⚬"/>
            </a:pPr>
            <a:r>
              <a:rPr lang="en-US" sz="203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Bearing</a:t>
            </a:r>
          </a:p>
          <a:p>
            <a:pPr algn="ctr">
              <a:lnSpc>
                <a:spcPts val="2852"/>
              </a:lnSpc>
              <a:spcBef>
                <a:spcPct val="0"/>
              </a:spcBef>
            </a:pPr>
          </a:p>
          <a:p>
            <a:pPr algn="ctr">
              <a:lnSpc>
                <a:spcPts val="2852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2791719" y="3351138"/>
            <a:ext cx="3645600" cy="460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Why?</a:t>
            </a:r>
          </a:p>
          <a:p>
            <a:pPr algn="ctr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</a:t>
            </a: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educes unnecessary features.</a:t>
            </a:r>
          </a:p>
          <a:p>
            <a:pPr algn="ctr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Helps the model focus on the most informative variables.</a:t>
            </a:r>
          </a:p>
          <a:p>
            <a:pPr algn="ctr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Can improve model efficiency and reduce complexity.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778590" cy="2712590"/>
          </a:xfrm>
          <a:custGeom>
            <a:avLst/>
            <a:gdLst/>
            <a:ahLst/>
            <a:cxnLst/>
            <a:rect r="r" b="b" t="t" l="l"/>
            <a:pathLst>
              <a:path h="2712590" w="3778590">
                <a:moveTo>
                  <a:pt x="0" y="0"/>
                </a:moveTo>
                <a:lnTo>
                  <a:pt x="3778590" y="0"/>
                </a:lnTo>
                <a:lnTo>
                  <a:pt x="3778590" y="2712590"/>
                </a:lnTo>
                <a:lnTo>
                  <a:pt x="0" y="2712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192003" y="-271804"/>
            <a:ext cx="2824193" cy="3367802"/>
          </a:xfrm>
          <a:custGeom>
            <a:avLst/>
            <a:gdLst/>
            <a:ahLst/>
            <a:cxnLst/>
            <a:rect r="r" b="b" t="t" l="l"/>
            <a:pathLst>
              <a:path h="3367802" w="2824193">
                <a:moveTo>
                  <a:pt x="0" y="0"/>
                </a:moveTo>
                <a:lnTo>
                  <a:pt x="2824193" y="0"/>
                </a:lnTo>
                <a:lnTo>
                  <a:pt x="2824193" y="3367801"/>
                </a:lnTo>
                <a:lnTo>
                  <a:pt x="0" y="3367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4006">
            <a:off x="13774215" y="6678589"/>
            <a:ext cx="4782721" cy="4782721"/>
          </a:xfrm>
          <a:custGeom>
            <a:avLst/>
            <a:gdLst/>
            <a:ahLst/>
            <a:cxnLst/>
            <a:rect r="r" b="b" t="t" l="l"/>
            <a:pathLst>
              <a:path h="4782721" w="4782721">
                <a:moveTo>
                  <a:pt x="0" y="0"/>
                </a:moveTo>
                <a:lnTo>
                  <a:pt x="4782721" y="0"/>
                </a:lnTo>
                <a:lnTo>
                  <a:pt x="4782721" y="4782721"/>
                </a:lnTo>
                <a:lnTo>
                  <a:pt x="0" y="4782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742234">
            <a:off x="-1017049" y="7303395"/>
            <a:ext cx="4508593" cy="3008461"/>
          </a:xfrm>
          <a:custGeom>
            <a:avLst/>
            <a:gdLst/>
            <a:ahLst/>
            <a:cxnLst/>
            <a:rect r="r" b="b" t="t" l="l"/>
            <a:pathLst>
              <a:path h="3008461" w="4508593">
                <a:moveTo>
                  <a:pt x="0" y="3008461"/>
                </a:moveTo>
                <a:lnTo>
                  <a:pt x="4508593" y="3008461"/>
                </a:lnTo>
                <a:lnTo>
                  <a:pt x="4508593" y="0"/>
                </a:lnTo>
                <a:lnTo>
                  <a:pt x="0" y="0"/>
                </a:lnTo>
                <a:lnTo>
                  <a:pt x="0" y="300846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120950" y="354600"/>
            <a:ext cx="1768345" cy="1933943"/>
          </a:xfrm>
          <a:custGeom>
            <a:avLst/>
            <a:gdLst/>
            <a:ahLst/>
            <a:cxnLst/>
            <a:rect r="r" b="b" t="t" l="l"/>
            <a:pathLst>
              <a:path h="1933943" w="1768345">
                <a:moveTo>
                  <a:pt x="0" y="0"/>
                </a:moveTo>
                <a:lnTo>
                  <a:pt x="1768345" y="0"/>
                </a:lnTo>
                <a:lnTo>
                  <a:pt x="1768345" y="1933943"/>
                </a:lnTo>
                <a:lnTo>
                  <a:pt x="0" y="19339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35013" y="8124499"/>
            <a:ext cx="2613054" cy="1890901"/>
          </a:xfrm>
          <a:custGeom>
            <a:avLst/>
            <a:gdLst/>
            <a:ahLst/>
            <a:cxnLst/>
            <a:rect r="r" b="b" t="t" l="l"/>
            <a:pathLst>
              <a:path h="1890901" w="2613054">
                <a:moveTo>
                  <a:pt x="0" y="0"/>
                </a:moveTo>
                <a:lnTo>
                  <a:pt x="2613054" y="0"/>
                </a:lnTo>
                <a:lnTo>
                  <a:pt x="2613054" y="1890901"/>
                </a:lnTo>
                <a:lnTo>
                  <a:pt x="0" y="1890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6929" y="3389402"/>
            <a:ext cx="8757071" cy="3790677"/>
          </a:xfrm>
          <a:custGeom>
            <a:avLst/>
            <a:gdLst/>
            <a:ahLst/>
            <a:cxnLst/>
            <a:rect r="r" b="b" t="t" l="l"/>
            <a:pathLst>
              <a:path h="3790677" w="8757071">
                <a:moveTo>
                  <a:pt x="0" y="0"/>
                </a:moveTo>
                <a:lnTo>
                  <a:pt x="8757071" y="0"/>
                </a:lnTo>
                <a:lnTo>
                  <a:pt x="8757071" y="3790677"/>
                </a:lnTo>
                <a:lnTo>
                  <a:pt x="0" y="379067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51650" y="1057469"/>
            <a:ext cx="7661791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TRAIN-TEST SPLIT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43788" y="3275658"/>
            <a:ext cx="8600420" cy="593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Splitting the Dataset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Purpose: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To evaluate how well the model performs on unseen data.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Approach</a:t>
            </a: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</a:t>
            </a: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raining set: 80%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Te</a:t>
            </a: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sting s</a:t>
            </a: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et: 20%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Random state = 42 for reproducibility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Result: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The model was trained on the training data and evaluated on the test data.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778590" cy="2712590"/>
          </a:xfrm>
          <a:custGeom>
            <a:avLst/>
            <a:gdLst/>
            <a:ahLst/>
            <a:cxnLst/>
            <a:rect r="r" b="b" t="t" l="l"/>
            <a:pathLst>
              <a:path h="2712590" w="3778590">
                <a:moveTo>
                  <a:pt x="0" y="0"/>
                </a:moveTo>
                <a:lnTo>
                  <a:pt x="3778590" y="0"/>
                </a:lnTo>
                <a:lnTo>
                  <a:pt x="3778590" y="2712590"/>
                </a:lnTo>
                <a:lnTo>
                  <a:pt x="0" y="2712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192003" y="-271804"/>
            <a:ext cx="2824193" cy="3367802"/>
          </a:xfrm>
          <a:custGeom>
            <a:avLst/>
            <a:gdLst/>
            <a:ahLst/>
            <a:cxnLst/>
            <a:rect r="r" b="b" t="t" l="l"/>
            <a:pathLst>
              <a:path h="3367802" w="2824193">
                <a:moveTo>
                  <a:pt x="0" y="0"/>
                </a:moveTo>
                <a:lnTo>
                  <a:pt x="2824193" y="0"/>
                </a:lnTo>
                <a:lnTo>
                  <a:pt x="2824193" y="3367801"/>
                </a:lnTo>
                <a:lnTo>
                  <a:pt x="0" y="3367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4006">
            <a:off x="13774215" y="6678589"/>
            <a:ext cx="4782721" cy="4782721"/>
          </a:xfrm>
          <a:custGeom>
            <a:avLst/>
            <a:gdLst/>
            <a:ahLst/>
            <a:cxnLst/>
            <a:rect r="r" b="b" t="t" l="l"/>
            <a:pathLst>
              <a:path h="4782721" w="4782721">
                <a:moveTo>
                  <a:pt x="0" y="0"/>
                </a:moveTo>
                <a:lnTo>
                  <a:pt x="4782721" y="0"/>
                </a:lnTo>
                <a:lnTo>
                  <a:pt x="4782721" y="4782721"/>
                </a:lnTo>
                <a:lnTo>
                  <a:pt x="0" y="4782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742234">
            <a:off x="-1017049" y="7303395"/>
            <a:ext cx="4508593" cy="3008461"/>
          </a:xfrm>
          <a:custGeom>
            <a:avLst/>
            <a:gdLst/>
            <a:ahLst/>
            <a:cxnLst/>
            <a:rect r="r" b="b" t="t" l="l"/>
            <a:pathLst>
              <a:path h="3008461" w="4508593">
                <a:moveTo>
                  <a:pt x="0" y="3008461"/>
                </a:moveTo>
                <a:lnTo>
                  <a:pt x="4508593" y="3008461"/>
                </a:lnTo>
                <a:lnTo>
                  <a:pt x="4508593" y="0"/>
                </a:lnTo>
                <a:lnTo>
                  <a:pt x="0" y="0"/>
                </a:lnTo>
                <a:lnTo>
                  <a:pt x="0" y="300846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89295" y="84311"/>
            <a:ext cx="12379010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PIPELINE &amp; FE</a:t>
            </a: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ATURE SCALING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8060104"/>
            <a:ext cx="2431223" cy="2121795"/>
          </a:xfrm>
          <a:custGeom>
            <a:avLst/>
            <a:gdLst/>
            <a:ahLst/>
            <a:cxnLst/>
            <a:rect r="r" b="b" t="t" l="l"/>
            <a:pathLst>
              <a:path h="2121795" w="2431223">
                <a:moveTo>
                  <a:pt x="0" y="0"/>
                </a:moveTo>
                <a:lnTo>
                  <a:pt x="2431223" y="0"/>
                </a:lnTo>
                <a:lnTo>
                  <a:pt x="2431223" y="2121795"/>
                </a:lnTo>
                <a:lnTo>
                  <a:pt x="0" y="21217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165575" y="370978"/>
            <a:ext cx="1866727" cy="1970633"/>
          </a:xfrm>
          <a:custGeom>
            <a:avLst/>
            <a:gdLst/>
            <a:ahLst/>
            <a:cxnLst/>
            <a:rect r="r" b="b" t="t" l="l"/>
            <a:pathLst>
              <a:path h="1970633" w="1866727">
                <a:moveTo>
                  <a:pt x="1866728" y="0"/>
                </a:moveTo>
                <a:lnTo>
                  <a:pt x="0" y="0"/>
                </a:lnTo>
                <a:lnTo>
                  <a:pt x="0" y="1970634"/>
                </a:lnTo>
                <a:lnTo>
                  <a:pt x="1866728" y="1970634"/>
                </a:lnTo>
                <a:lnTo>
                  <a:pt x="186672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8370" y="3956369"/>
            <a:ext cx="7683783" cy="2911361"/>
          </a:xfrm>
          <a:custGeom>
            <a:avLst/>
            <a:gdLst/>
            <a:ahLst/>
            <a:cxnLst/>
            <a:rect r="r" b="b" t="t" l="l"/>
            <a:pathLst>
              <a:path h="2911361" w="7683783">
                <a:moveTo>
                  <a:pt x="0" y="0"/>
                </a:moveTo>
                <a:lnTo>
                  <a:pt x="7683783" y="0"/>
                </a:lnTo>
                <a:lnTo>
                  <a:pt x="7683783" y="2911362"/>
                </a:lnTo>
                <a:lnTo>
                  <a:pt x="0" y="29113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89295" y="2261544"/>
            <a:ext cx="7835700" cy="792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Pu</a:t>
            </a: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rpose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To automate preprocessing and model training in a single workflow.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Approach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Used StandardScaler to standardize all numerical features.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Combined the scaler and the Linear Regression model using Pipeline.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Why Pipeline?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Applies the same preprocessing during both training and testing.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Reduces the risk of data leakage.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Makes the workflow cleaner and easier to save and reuse.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509410" y="0"/>
            <a:ext cx="3778590" cy="2712590"/>
          </a:xfrm>
          <a:custGeom>
            <a:avLst/>
            <a:gdLst/>
            <a:ahLst/>
            <a:cxnLst/>
            <a:rect r="r" b="b" t="t" l="l"/>
            <a:pathLst>
              <a:path h="2712590" w="3778590">
                <a:moveTo>
                  <a:pt x="3778590" y="0"/>
                </a:moveTo>
                <a:lnTo>
                  <a:pt x="0" y="0"/>
                </a:lnTo>
                <a:lnTo>
                  <a:pt x="0" y="2712590"/>
                </a:lnTo>
                <a:lnTo>
                  <a:pt x="3778590" y="2712590"/>
                </a:lnTo>
                <a:lnTo>
                  <a:pt x="37785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271804" y="-271804"/>
            <a:ext cx="2824193" cy="3367802"/>
          </a:xfrm>
          <a:custGeom>
            <a:avLst/>
            <a:gdLst/>
            <a:ahLst/>
            <a:cxnLst/>
            <a:rect r="r" b="b" t="t" l="l"/>
            <a:pathLst>
              <a:path h="3367802" w="2824193">
                <a:moveTo>
                  <a:pt x="0" y="3367801"/>
                </a:moveTo>
                <a:lnTo>
                  <a:pt x="2824193" y="3367801"/>
                </a:lnTo>
                <a:lnTo>
                  <a:pt x="2824193" y="0"/>
                </a:lnTo>
                <a:lnTo>
                  <a:pt x="0" y="0"/>
                </a:lnTo>
                <a:lnTo>
                  <a:pt x="0" y="33678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4006">
            <a:off x="13774215" y="6678589"/>
            <a:ext cx="4782721" cy="4782721"/>
          </a:xfrm>
          <a:custGeom>
            <a:avLst/>
            <a:gdLst/>
            <a:ahLst/>
            <a:cxnLst/>
            <a:rect r="r" b="b" t="t" l="l"/>
            <a:pathLst>
              <a:path h="4782721" w="4782721">
                <a:moveTo>
                  <a:pt x="0" y="0"/>
                </a:moveTo>
                <a:lnTo>
                  <a:pt x="4782721" y="0"/>
                </a:lnTo>
                <a:lnTo>
                  <a:pt x="4782721" y="4782721"/>
                </a:lnTo>
                <a:lnTo>
                  <a:pt x="0" y="4782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742234">
            <a:off x="-1017049" y="7303395"/>
            <a:ext cx="4508593" cy="3008461"/>
          </a:xfrm>
          <a:custGeom>
            <a:avLst/>
            <a:gdLst/>
            <a:ahLst/>
            <a:cxnLst/>
            <a:rect r="r" b="b" t="t" l="l"/>
            <a:pathLst>
              <a:path h="3008461" w="4508593">
                <a:moveTo>
                  <a:pt x="0" y="3008461"/>
                </a:moveTo>
                <a:lnTo>
                  <a:pt x="4508593" y="3008461"/>
                </a:lnTo>
                <a:lnTo>
                  <a:pt x="4508593" y="0"/>
                </a:lnTo>
                <a:lnTo>
                  <a:pt x="0" y="0"/>
                </a:lnTo>
                <a:lnTo>
                  <a:pt x="0" y="300846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65575" y="7787572"/>
            <a:ext cx="2040108" cy="2040108"/>
          </a:xfrm>
          <a:custGeom>
            <a:avLst/>
            <a:gdLst/>
            <a:ahLst/>
            <a:cxnLst/>
            <a:rect r="r" b="b" t="t" l="l"/>
            <a:pathLst>
              <a:path h="2040108" w="2040108">
                <a:moveTo>
                  <a:pt x="0" y="0"/>
                </a:moveTo>
                <a:lnTo>
                  <a:pt x="2040109" y="0"/>
                </a:lnTo>
                <a:lnTo>
                  <a:pt x="2040109" y="2040108"/>
                </a:lnTo>
                <a:lnTo>
                  <a:pt x="0" y="20401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2994" y="219140"/>
            <a:ext cx="1865306" cy="1946715"/>
          </a:xfrm>
          <a:custGeom>
            <a:avLst/>
            <a:gdLst/>
            <a:ahLst/>
            <a:cxnLst/>
            <a:rect r="r" b="b" t="t" l="l"/>
            <a:pathLst>
              <a:path h="1946715" w="1865306">
                <a:moveTo>
                  <a:pt x="0" y="0"/>
                </a:moveTo>
                <a:lnTo>
                  <a:pt x="1865307" y="0"/>
                </a:lnTo>
                <a:lnTo>
                  <a:pt x="1865307" y="1946715"/>
                </a:lnTo>
                <a:lnTo>
                  <a:pt x="0" y="19467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1809" y="2847536"/>
            <a:ext cx="7789534" cy="4940035"/>
          </a:xfrm>
          <a:custGeom>
            <a:avLst/>
            <a:gdLst/>
            <a:ahLst/>
            <a:cxnLst/>
            <a:rect r="r" b="b" t="t" l="l"/>
            <a:pathLst>
              <a:path h="4940035" w="7789534">
                <a:moveTo>
                  <a:pt x="0" y="0"/>
                </a:moveTo>
                <a:lnTo>
                  <a:pt x="7789534" y="0"/>
                </a:lnTo>
                <a:lnTo>
                  <a:pt x="7789534" y="4940036"/>
                </a:lnTo>
                <a:lnTo>
                  <a:pt x="0" y="49400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-677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21877" y="1476245"/>
            <a:ext cx="824424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C</a:t>
            </a: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ROSS VALIDATION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552664"/>
            <a:ext cx="8600420" cy="395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Pu</a:t>
            </a: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rpose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To evaluate the model's performance on different subsets of the training data and ensure it generalizes well.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Approach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Applied 5-Fold Cross Validation.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Used R² Score as the evaluation metric.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008113">
            <a:off x="7800348" y="8022631"/>
            <a:ext cx="4508593" cy="3008461"/>
          </a:xfrm>
          <a:custGeom>
            <a:avLst/>
            <a:gdLst/>
            <a:ahLst/>
            <a:cxnLst/>
            <a:rect r="r" b="b" t="t" l="l"/>
            <a:pathLst>
              <a:path h="3008461" w="4508593">
                <a:moveTo>
                  <a:pt x="0" y="3008461"/>
                </a:moveTo>
                <a:lnTo>
                  <a:pt x="4508593" y="3008461"/>
                </a:lnTo>
                <a:lnTo>
                  <a:pt x="4508593" y="0"/>
                </a:lnTo>
                <a:lnTo>
                  <a:pt x="0" y="0"/>
                </a:lnTo>
                <a:lnTo>
                  <a:pt x="0" y="300846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571412">
            <a:off x="12722523" y="5749056"/>
            <a:ext cx="6060756" cy="6060756"/>
          </a:xfrm>
          <a:custGeom>
            <a:avLst/>
            <a:gdLst/>
            <a:ahLst/>
            <a:cxnLst/>
            <a:rect r="r" b="b" t="t" l="l"/>
            <a:pathLst>
              <a:path h="6060756" w="6060756">
                <a:moveTo>
                  <a:pt x="0" y="0"/>
                </a:moveTo>
                <a:lnTo>
                  <a:pt x="6060756" y="0"/>
                </a:lnTo>
                <a:lnTo>
                  <a:pt x="6060756" y="6060757"/>
                </a:lnTo>
                <a:lnTo>
                  <a:pt x="0" y="6060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7491374"/>
            <a:ext cx="3894258" cy="2795626"/>
          </a:xfrm>
          <a:custGeom>
            <a:avLst/>
            <a:gdLst/>
            <a:ahLst/>
            <a:cxnLst/>
            <a:rect r="r" b="b" t="t" l="l"/>
            <a:pathLst>
              <a:path h="2795626" w="3894258">
                <a:moveTo>
                  <a:pt x="0" y="2795626"/>
                </a:moveTo>
                <a:lnTo>
                  <a:pt x="3894258" y="2795626"/>
                </a:lnTo>
                <a:lnTo>
                  <a:pt x="3894258" y="0"/>
                </a:lnTo>
                <a:lnTo>
                  <a:pt x="0" y="0"/>
                </a:lnTo>
                <a:lnTo>
                  <a:pt x="0" y="279562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16400">
            <a:off x="2778728" y="8532159"/>
            <a:ext cx="6587243" cy="6383637"/>
          </a:xfrm>
          <a:custGeom>
            <a:avLst/>
            <a:gdLst/>
            <a:ahLst/>
            <a:cxnLst/>
            <a:rect r="r" b="b" t="t" l="l"/>
            <a:pathLst>
              <a:path h="6383637" w="6587243">
                <a:moveTo>
                  <a:pt x="0" y="0"/>
                </a:moveTo>
                <a:lnTo>
                  <a:pt x="6587243" y="0"/>
                </a:lnTo>
                <a:lnTo>
                  <a:pt x="6587243" y="6383637"/>
                </a:lnTo>
                <a:lnTo>
                  <a:pt x="0" y="6383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54598" y="1476245"/>
            <a:ext cx="11378803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HYPERPARAMETER T</a:t>
            </a: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UNING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5752901" y="7612351"/>
            <a:ext cx="2535099" cy="2553671"/>
          </a:xfrm>
          <a:custGeom>
            <a:avLst/>
            <a:gdLst/>
            <a:ahLst/>
            <a:cxnLst/>
            <a:rect r="r" b="b" t="t" l="l"/>
            <a:pathLst>
              <a:path h="2553671" w="2535099">
                <a:moveTo>
                  <a:pt x="2535099" y="0"/>
                </a:moveTo>
                <a:lnTo>
                  <a:pt x="0" y="0"/>
                </a:lnTo>
                <a:lnTo>
                  <a:pt x="0" y="2553672"/>
                </a:lnTo>
                <a:lnTo>
                  <a:pt x="2535099" y="2553672"/>
                </a:lnTo>
                <a:lnTo>
                  <a:pt x="2535099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513784" y="1619120"/>
            <a:ext cx="1491031" cy="1876584"/>
          </a:xfrm>
          <a:custGeom>
            <a:avLst/>
            <a:gdLst/>
            <a:ahLst/>
            <a:cxnLst/>
            <a:rect r="r" b="b" t="t" l="l"/>
            <a:pathLst>
              <a:path h="1876584" w="1491031">
                <a:moveTo>
                  <a:pt x="1491032" y="0"/>
                </a:moveTo>
                <a:lnTo>
                  <a:pt x="0" y="0"/>
                </a:lnTo>
                <a:lnTo>
                  <a:pt x="0" y="1876583"/>
                </a:lnTo>
                <a:lnTo>
                  <a:pt x="1491032" y="1876583"/>
                </a:lnTo>
                <a:lnTo>
                  <a:pt x="149103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012" y="8312849"/>
            <a:ext cx="2613054" cy="1890901"/>
          </a:xfrm>
          <a:custGeom>
            <a:avLst/>
            <a:gdLst/>
            <a:ahLst/>
            <a:cxnLst/>
            <a:rect r="r" b="b" t="t" l="l"/>
            <a:pathLst>
              <a:path h="1890901" w="2613054">
                <a:moveTo>
                  <a:pt x="0" y="0"/>
                </a:moveTo>
                <a:lnTo>
                  <a:pt x="2613054" y="0"/>
                </a:lnTo>
                <a:lnTo>
                  <a:pt x="2613054" y="1890902"/>
                </a:lnTo>
                <a:lnTo>
                  <a:pt x="0" y="18909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77639" y="3252755"/>
            <a:ext cx="14132722" cy="5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Pu</a:t>
            </a: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rpose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To improve model performance by finding the optimal value of the Ridge regularization parameter (alpha).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Approach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Used GridSearchCV with 5-Fold Cross Validation.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Tested different values of alpha:</a:t>
            </a:r>
          </a:p>
          <a:p>
            <a:pPr algn="just" marL="1209039" indent="-403013" lvl="2">
              <a:lnSpc>
                <a:spcPts val="3919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0.001, 0.01, 0.1, 1, 10, 100, 500, 1000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Best Result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Best alpha = 1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Best CV R² = 0.6718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509410" y="0"/>
            <a:ext cx="3778590" cy="2712590"/>
          </a:xfrm>
          <a:custGeom>
            <a:avLst/>
            <a:gdLst/>
            <a:ahLst/>
            <a:cxnLst/>
            <a:rect r="r" b="b" t="t" l="l"/>
            <a:pathLst>
              <a:path h="2712590" w="3778590">
                <a:moveTo>
                  <a:pt x="3778590" y="0"/>
                </a:moveTo>
                <a:lnTo>
                  <a:pt x="0" y="0"/>
                </a:lnTo>
                <a:lnTo>
                  <a:pt x="0" y="2712590"/>
                </a:lnTo>
                <a:lnTo>
                  <a:pt x="3778590" y="2712590"/>
                </a:lnTo>
                <a:lnTo>
                  <a:pt x="37785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271804" y="-271804"/>
            <a:ext cx="2824193" cy="3367802"/>
          </a:xfrm>
          <a:custGeom>
            <a:avLst/>
            <a:gdLst/>
            <a:ahLst/>
            <a:cxnLst/>
            <a:rect r="r" b="b" t="t" l="l"/>
            <a:pathLst>
              <a:path h="3367802" w="2824193">
                <a:moveTo>
                  <a:pt x="0" y="3367801"/>
                </a:moveTo>
                <a:lnTo>
                  <a:pt x="2824193" y="3367801"/>
                </a:lnTo>
                <a:lnTo>
                  <a:pt x="2824193" y="0"/>
                </a:lnTo>
                <a:lnTo>
                  <a:pt x="0" y="0"/>
                </a:lnTo>
                <a:lnTo>
                  <a:pt x="0" y="33678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4006">
            <a:off x="13774215" y="6678589"/>
            <a:ext cx="4782721" cy="4782721"/>
          </a:xfrm>
          <a:custGeom>
            <a:avLst/>
            <a:gdLst/>
            <a:ahLst/>
            <a:cxnLst/>
            <a:rect r="r" b="b" t="t" l="l"/>
            <a:pathLst>
              <a:path h="4782721" w="4782721">
                <a:moveTo>
                  <a:pt x="0" y="0"/>
                </a:moveTo>
                <a:lnTo>
                  <a:pt x="4782721" y="0"/>
                </a:lnTo>
                <a:lnTo>
                  <a:pt x="4782721" y="4782721"/>
                </a:lnTo>
                <a:lnTo>
                  <a:pt x="0" y="4782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742234">
            <a:off x="-1017049" y="7303395"/>
            <a:ext cx="4508593" cy="3008461"/>
          </a:xfrm>
          <a:custGeom>
            <a:avLst/>
            <a:gdLst/>
            <a:ahLst/>
            <a:cxnLst/>
            <a:rect r="r" b="b" t="t" l="l"/>
            <a:pathLst>
              <a:path h="3008461" w="4508593">
                <a:moveTo>
                  <a:pt x="0" y="3008461"/>
                </a:moveTo>
                <a:lnTo>
                  <a:pt x="4508593" y="3008461"/>
                </a:lnTo>
                <a:lnTo>
                  <a:pt x="4508593" y="0"/>
                </a:lnTo>
                <a:lnTo>
                  <a:pt x="0" y="0"/>
                </a:lnTo>
                <a:lnTo>
                  <a:pt x="0" y="300846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5872" y="1476245"/>
            <a:ext cx="16716256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COMPARE BEFORE AND AFTER TUNNING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70571" y="7423973"/>
            <a:ext cx="2504106" cy="2504106"/>
          </a:xfrm>
          <a:custGeom>
            <a:avLst/>
            <a:gdLst/>
            <a:ahLst/>
            <a:cxnLst/>
            <a:rect r="r" b="b" t="t" l="l"/>
            <a:pathLst>
              <a:path h="2504106" w="2504106">
                <a:moveTo>
                  <a:pt x="2504105" y="0"/>
                </a:moveTo>
                <a:lnTo>
                  <a:pt x="0" y="0"/>
                </a:lnTo>
                <a:lnTo>
                  <a:pt x="0" y="2504106"/>
                </a:lnTo>
                <a:lnTo>
                  <a:pt x="2504105" y="2504106"/>
                </a:lnTo>
                <a:lnTo>
                  <a:pt x="250410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65575" y="-315939"/>
            <a:ext cx="2122425" cy="2215054"/>
          </a:xfrm>
          <a:custGeom>
            <a:avLst/>
            <a:gdLst/>
            <a:ahLst/>
            <a:cxnLst/>
            <a:rect r="r" b="b" t="t" l="l"/>
            <a:pathLst>
              <a:path h="2215054" w="2122425">
                <a:moveTo>
                  <a:pt x="0" y="0"/>
                </a:moveTo>
                <a:lnTo>
                  <a:pt x="2122425" y="0"/>
                </a:lnTo>
                <a:lnTo>
                  <a:pt x="2122425" y="2215055"/>
                </a:lnTo>
                <a:lnTo>
                  <a:pt x="0" y="22150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903163" y="3911033"/>
            <a:ext cx="6560970" cy="4128447"/>
            <a:chOff x="0" y="0"/>
            <a:chExt cx="1727992" cy="10873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27992" cy="1087328"/>
            </a:xfrm>
            <a:custGeom>
              <a:avLst/>
              <a:gdLst/>
              <a:ahLst/>
              <a:cxnLst/>
              <a:rect r="r" b="b" t="t" l="l"/>
              <a:pathLst>
                <a:path h="1087328" w="1727992">
                  <a:moveTo>
                    <a:pt x="49560" y="0"/>
                  </a:moveTo>
                  <a:lnTo>
                    <a:pt x="1678432" y="0"/>
                  </a:lnTo>
                  <a:cubicBezTo>
                    <a:pt x="1691576" y="0"/>
                    <a:pt x="1704182" y="5221"/>
                    <a:pt x="1713476" y="14516"/>
                  </a:cubicBezTo>
                  <a:cubicBezTo>
                    <a:pt x="1722771" y="23810"/>
                    <a:pt x="1727992" y="36416"/>
                    <a:pt x="1727992" y="49560"/>
                  </a:cubicBezTo>
                  <a:lnTo>
                    <a:pt x="1727992" y="1037768"/>
                  </a:lnTo>
                  <a:cubicBezTo>
                    <a:pt x="1727992" y="1050912"/>
                    <a:pt x="1722771" y="1063518"/>
                    <a:pt x="1713476" y="1072812"/>
                  </a:cubicBezTo>
                  <a:cubicBezTo>
                    <a:pt x="1704182" y="1082106"/>
                    <a:pt x="1691576" y="1087328"/>
                    <a:pt x="1678432" y="1087328"/>
                  </a:cubicBezTo>
                  <a:lnTo>
                    <a:pt x="49560" y="1087328"/>
                  </a:lnTo>
                  <a:cubicBezTo>
                    <a:pt x="36416" y="1087328"/>
                    <a:pt x="23810" y="1082106"/>
                    <a:pt x="14516" y="1072812"/>
                  </a:cubicBezTo>
                  <a:cubicBezTo>
                    <a:pt x="5221" y="1063518"/>
                    <a:pt x="0" y="1050912"/>
                    <a:pt x="0" y="1037768"/>
                  </a:cubicBezTo>
                  <a:lnTo>
                    <a:pt x="0" y="49560"/>
                  </a:lnTo>
                  <a:cubicBezTo>
                    <a:pt x="0" y="36416"/>
                    <a:pt x="5221" y="23810"/>
                    <a:pt x="14516" y="14516"/>
                  </a:cubicBezTo>
                  <a:cubicBezTo>
                    <a:pt x="23810" y="5221"/>
                    <a:pt x="36416" y="0"/>
                    <a:pt x="49560" y="0"/>
                  </a:cubicBezTo>
                  <a:close/>
                </a:path>
              </a:pathLst>
            </a:custGeom>
            <a:solidFill>
              <a:srgbClr val="FFFFFF"/>
            </a:solidFill>
            <a:ln w="152400" cap="rnd">
              <a:solidFill>
                <a:srgbClr val="41547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27992" cy="1125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23867" y="3911033"/>
            <a:ext cx="6560970" cy="4128447"/>
            <a:chOff x="0" y="0"/>
            <a:chExt cx="1727992" cy="10873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27992" cy="1087328"/>
            </a:xfrm>
            <a:custGeom>
              <a:avLst/>
              <a:gdLst/>
              <a:ahLst/>
              <a:cxnLst/>
              <a:rect r="r" b="b" t="t" l="l"/>
              <a:pathLst>
                <a:path h="1087328" w="1727992">
                  <a:moveTo>
                    <a:pt x="49560" y="0"/>
                  </a:moveTo>
                  <a:lnTo>
                    <a:pt x="1678432" y="0"/>
                  </a:lnTo>
                  <a:cubicBezTo>
                    <a:pt x="1691576" y="0"/>
                    <a:pt x="1704182" y="5221"/>
                    <a:pt x="1713476" y="14516"/>
                  </a:cubicBezTo>
                  <a:cubicBezTo>
                    <a:pt x="1722771" y="23810"/>
                    <a:pt x="1727992" y="36416"/>
                    <a:pt x="1727992" y="49560"/>
                  </a:cubicBezTo>
                  <a:lnTo>
                    <a:pt x="1727992" y="1037768"/>
                  </a:lnTo>
                  <a:cubicBezTo>
                    <a:pt x="1727992" y="1050912"/>
                    <a:pt x="1722771" y="1063518"/>
                    <a:pt x="1713476" y="1072812"/>
                  </a:cubicBezTo>
                  <a:cubicBezTo>
                    <a:pt x="1704182" y="1082106"/>
                    <a:pt x="1691576" y="1087328"/>
                    <a:pt x="1678432" y="1087328"/>
                  </a:cubicBezTo>
                  <a:lnTo>
                    <a:pt x="49560" y="1087328"/>
                  </a:lnTo>
                  <a:cubicBezTo>
                    <a:pt x="36416" y="1087328"/>
                    <a:pt x="23810" y="1082106"/>
                    <a:pt x="14516" y="1072812"/>
                  </a:cubicBezTo>
                  <a:cubicBezTo>
                    <a:pt x="5221" y="1063518"/>
                    <a:pt x="0" y="1050912"/>
                    <a:pt x="0" y="1037768"/>
                  </a:cubicBezTo>
                  <a:lnTo>
                    <a:pt x="0" y="49560"/>
                  </a:lnTo>
                  <a:cubicBezTo>
                    <a:pt x="0" y="36416"/>
                    <a:pt x="5221" y="23810"/>
                    <a:pt x="14516" y="14516"/>
                  </a:cubicBezTo>
                  <a:cubicBezTo>
                    <a:pt x="23810" y="5221"/>
                    <a:pt x="36416" y="0"/>
                    <a:pt x="49560" y="0"/>
                  </a:cubicBezTo>
                  <a:close/>
                </a:path>
              </a:pathLst>
            </a:custGeom>
            <a:solidFill>
              <a:srgbClr val="FFFFFF"/>
            </a:solidFill>
            <a:ln w="152400" cap="rnd">
              <a:solidFill>
                <a:srgbClr val="415472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27992" cy="1125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055384" y="5143500"/>
            <a:ext cx="6408749" cy="1591530"/>
          </a:xfrm>
          <a:custGeom>
            <a:avLst/>
            <a:gdLst/>
            <a:ahLst/>
            <a:cxnLst/>
            <a:rect r="r" b="b" t="t" l="l"/>
            <a:pathLst>
              <a:path h="1591530" w="6408749">
                <a:moveTo>
                  <a:pt x="0" y="0"/>
                </a:moveTo>
                <a:lnTo>
                  <a:pt x="6408749" y="0"/>
                </a:lnTo>
                <a:lnTo>
                  <a:pt x="6408749" y="1591530"/>
                </a:lnTo>
                <a:lnTo>
                  <a:pt x="0" y="159153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178582" y="4271390"/>
            <a:ext cx="5410978" cy="376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</a:t>
            </a: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 tuned model achieved almost identical performance to the baseline model.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Hyperparameter tuning did not significantly improve the results.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This indicates that the Linear Regression model was already well-fitted for this dataset.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360543" cy="3848249"/>
          </a:xfrm>
          <a:custGeom>
            <a:avLst/>
            <a:gdLst/>
            <a:ahLst/>
            <a:cxnLst/>
            <a:rect r="r" b="b" t="t" l="l"/>
            <a:pathLst>
              <a:path h="3848249" w="5360543">
                <a:moveTo>
                  <a:pt x="0" y="0"/>
                </a:moveTo>
                <a:lnTo>
                  <a:pt x="5360543" y="0"/>
                </a:lnTo>
                <a:lnTo>
                  <a:pt x="5360543" y="3848249"/>
                </a:lnTo>
                <a:lnTo>
                  <a:pt x="0" y="3848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54006">
            <a:off x="12136662" y="4965982"/>
            <a:ext cx="6458642" cy="6458642"/>
          </a:xfrm>
          <a:custGeom>
            <a:avLst/>
            <a:gdLst/>
            <a:ahLst/>
            <a:cxnLst/>
            <a:rect r="r" b="b" t="t" l="l"/>
            <a:pathLst>
              <a:path h="6458642" w="6458642">
                <a:moveTo>
                  <a:pt x="0" y="0"/>
                </a:moveTo>
                <a:lnTo>
                  <a:pt x="6458642" y="0"/>
                </a:lnTo>
                <a:lnTo>
                  <a:pt x="6458642" y="6458642"/>
                </a:lnTo>
                <a:lnTo>
                  <a:pt x="0" y="6458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150049">
            <a:off x="-1282645" y="5648322"/>
            <a:ext cx="6850668" cy="4571264"/>
          </a:xfrm>
          <a:custGeom>
            <a:avLst/>
            <a:gdLst/>
            <a:ahLst/>
            <a:cxnLst/>
            <a:rect r="r" b="b" t="t" l="l"/>
            <a:pathLst>
              <a:path h="4571264" w="6850668">
                <a:moveTo>
                  <a:pt x="0" y="4571264"/>
                </a:moveTo>
                <a:lnTo>
                  <a:pt x="6850668" y="4571264"/>
                </a:lnTo>
                <a:lnTo>
                  <a:pt x="6850668" y="0"/>
                </a:lnTo>
                <a:lnTo>
                  <a:pt x="0" y="0"/>
                </a:lnTo>
                <a:lnTo>
                  <a:pt x="0" y="457126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3243927" y="-442830"/>
            <a:ext cx="4601243" cy="5486903"/>
          </a:xfrm>
          <a:custGeom>
            <a:avLst/>
            <a:gdLst/>
            <a:ahLst/>
            <a:cxnLst/>
            <a:rect r="r" b="b" t="t" l="l"/>
            <a:pathLst>
              <a:path h="5486903" w="4601243">
                <a:moveTo>
                  <a:pt x="0" y="0"/>
                </a:moveTo>
                <a:lnTo>
                  <a:pt x="4601243" y="0"/>
                </a:lnTo>
                <a:lnTo>
                  <a:pt x="4601243" y="5486903"/>
                </a:lnTo>
                <a:lnTo>
                  <a:pt x="0" y="54869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05897" y="7083681"/>
            <a:ext cx="3594947" cy="3633681"/>
          </a:xfrm>
          <a:custGeom>
            <a:avLst/>
            <a:gdLst/>
            <a:ahLst/>
            <a:cxnLst/>
            <a:rect r="r" b="b" t="t" l="l"/>
            <a:pathLst>
              <a:path h="3633681" w="3594947">
                <a:moveTo>
                  <a:pt x="0" y="0"/>
                </a:moveTo>
                <a:lnTo>
                  <a:pt x="3594947" y="0"/>
                </a:lnTo>
                <a:lnTo>
                  <a:pt x="3594947" y="3633681"/>
                </a:lnTo>
                <a:lnTo>
                  <a:pt x="0" y="36336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9503" y="289271"/>
            <a:ext cx="2446863" cy="2583060"/>
          </a:xfrm>
          <a:custGeom>
            <a:avLst/>
            <a:gdLst/>
            <a:ahLst/>
            <a:cxnLst/>
            <a:rect r="r" b="b" t="t" l="l"/>
            <a:pathLst>
              <a:path h="2583060" w="2446863">
                <a:moveTo>
                  <a:pt x="0" y="0"/>
                </a:moveTo>
                <a:lnTo>
                  <a:pt x="2446862" y="0"/>
                </a:lnTo>
                <a:lnTo>
                  <a:pt x="2446862" y="2583060"/>
                </a:lnTo>
                <a:lnTo>
                  <a:pt x="0" y="25830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91335" y="5528258"/>
            <a:ext cx="7905330" cy="646800"/>
          </a:xfrm>
          <a:custGeom>
            <a:avLst/>
            <a:gdLst/>
            <a:ahLst/>
            <a:cxnLst/>
            <a:rect r="r" b="b" t="t" l="l"/>
            <a:pathLst>
              <a:path h="646800" w="7905330">
                <a:moveTo>
                  <a:pt x="0" y="0"/>
                </a:moveTo>
                <a:lnTo>
                  <a:pt x="7905330" y="0"/>
                </a:lnTo>
                <a:lnTo>
                  <a:pt x="7905330" y="646800"/>
                </a:lnTo>
                <a:lnTo>
                  <a:pt x="0" y="646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999782" y="9419867"/>
            <a:ext cx="5073653" cy="867133"/>
          </a:xfrm>
          <a:custGeom>
            <a:avLst/>
            <a:gdLst/>
            <a:ahLst/>
            <a:cxnLst/>
            <a:rect r="r" b="b" t="t" l="l"/>
            <a:pathLst>
              <a:path h="867133" w="5073653">
                <a:moveTo>
                  <a:pt x="0" y="0"/>
                </a:moveTo>
                <a:lnTo>
                  <a:pt x="5073653" y="0"/>
                </a:lnTo>
                <a:lnTo>
                  <a:pt x="5073653" y="867133"/>
                </a:lnTo>
                <a:lnTo>
                  <a:pt x="0" y="86713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316424">
            <a:off x="-1947504" y="2950825"/>
            <a:ext cx="3773033" cy="3300836"/>
          </a:xfrm>
          <a:custGeom>
            <a:avLst/>
            <a:gdLst/>
            <a:ahLst/>
            <a:cxnLst/>
            <a:rect r="r" b="b" t="t" l="l"/>
            <a:pathLst>
              <a:path h="3300836" w="3773033">
                <a:moveTo>
                  <a:pt x="0" y="0"/>
                </a:moveTo>
                <a:lnTo>
                  <a:pt x="3773033" y="0"/>
                </a:lnTo>
                <a:lnTo>
                  <a:pt x="3773033" y="3300836"/>
                </a:lnTo>
                <a:lnTo>
                  <a:pt x="0" y="330083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34621" y="3142104"/>
            <a:ext cx="8818758" cy="229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86"/>
              </a:lnSpc>
              <a:spcBef>
                <a:spcPct val="0"/>
              </a:spcBef>
            </a:pPr>
            <a:r>
              <a:rPr lang="en-US" sz="13418">
                <a:solidFill>
                  <a:srgbClr val="415472"/>
                </a:solidFill>
                <a:latin typeface="Dynapuff"/>
                <a:ea typeface="Dynapuff"/>
                <a:cs typeface="Dynapuff"/>
                <a:sym typeface="Dynapuff"/>
              </a:rPr>
              <a:t>Thank You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3556043">
            <a:off x="16337327" y="3533396"/>
            <a:ext cx="3773033" cy="3300836"/>
          </a:xfrm>
          <a:custGeom>
            <a:avLst/>
            <a:gdLst/>
            <a:ahLst/>
            <a:cxnLst/>
            <a:rect r="r" b="b" t="t" l="l"/>
            <a:pathLst>
              <a:path h="3300836" w="3773033">
                <a:moveTo>
                  <a:pt x="3773033" y="0"/>
                </a:moveTo>
                <a:lnTo>
                  <a:pt x="0" y="0"/>
                </a:lnTo>
                <a:lnTo>
                  <a:pt x="0" y="3300837"/>
                </a:lnTo>
                <a:lnTo>
                  <a:pt x="3773033" y="3300837"/>
                </a:lnTo>
                <a:lnTo>
                  <a:pt x="377303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60987" y="6794725"/>
            <a:ext cx="3307842" cy="3332076"/>
          </a:xfrm>
          <a:custGeom>
            <a:avLst/>
            <a:gdLst/>
            <a:ahLst/>
            <a:cxnLst/>
            <a:rect r="r" b="b" t="t" l="l"/>
            <a:pathLst>
              <a:path h="3332076" w="3307842">
                <a:moveTo>
                  <a:pt x="0" y="0"/>
                </a:moveTo>
                <a:lnTo>
                  <a:pt x="3307842" y="0"/>
                </a:lnTo>
                <a:lnTo>
                  <a:pt x="3307842" y="3332076"/>
                </a:lnTo>
                <a:lnTo>
                  <a:pt x="0" y="33320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6169687" y="289271"/>
            <a:ext cx="2179226" cy="2742733"/>
          </a:xfrm>
          <a:custGeom>
            <a:avLst/>
            <a:gdLst/>
            <a:ahLst/>
            <a:cxnLst/>
            <a:rect r="r" b="b" t="t" l="l"/>
            <a:pathLst>
              <a:path h="2742733" w="2179226">
                <a:moveTo>
                  <a:pt x="2179226" y="0"/>
                </a:moveTo>
                <a:lnTo>
                  <a:pt x="0" y="0"/>
                </a:lnTo>
                <a:lnTo>
                  <a:pt x="0" y="2742732"/>
                </a:lnTo>
                <a:lnTo>
                  <a:pt x="2179226" y="2742732"/>
                </a:lnTo>
                <a:lnTo>
                  <a:pt x="2179226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DAHPlNZZ7xw</dc:identifier>
  <dcterms:modified xsi:type="dcterms:W3CDTF">2011-08-01T06:04:30Z</dcterms:modified>
  <cp:revision>1</cp:revision>
  <dc:title>Task 2 :Data Preprocessing</dc:title>
</cp:coreProperties>
</file>